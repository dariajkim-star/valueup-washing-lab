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 훅: 2026년 밸류업 공시는 사실상 의무 — 그런데 공시대로 이행하는지 검증하는 도구는 없다. 그 갭을 실데이터로 정량화했다.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정책 맥락 3개 숫자. 워싱 정의를 여기서 미리 심어두면 뒤 슬라이드가 빨라진다.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역순 내러티브의 지도. 이후 화면→스코어→원칙 순으로 내려간다.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데모 대체 화면. 실제 시연 가능(uvicorn+Vite). 배선 실증 DoD 이야기로 신뢰 확보.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갭 카드가 UJ-1의 클라이맥스. as_of 체이닝은 리뷰 지적을 더 싼 해법으로 관철한 사례.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관점 공존(SM-3)이 차별점 — 같은 기업이 워싱 의심이면서 M&amp;A 매력일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슬라이드가 프로젝트의 심장. 커버리지 한계 질문이 나오면 여기 원칙으로 답한다.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도구를 쓰되 판단은 남긴다 — 컨설턴트 포지셔닝의 근거 슬라이드.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마감 판단을 사후 CX로 교차검증했다는 게 포인트 — 한계 인정이 감이 아니라 방법론으로 뒷받침됨.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§1(황색 하이라이트)이 CX 집중개선과 일치 — v2의 유일한 우선 후보. 나머지는 판단 기록.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v2는 열려 있되 우선순위가 데이터(IPA)로 정해져 있음을 보여준다. '하지 않을 것'이 성숙도의 신호.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역순 내러티브 마무리: 화면에서 시작해 원칙으로 끝났다. 질문은 한계 §1(커버리지)로 유도되며, 그 답이 S7 원칙이다.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011680"/>
            <a:ext cx="6858000" cy="6858000"/>
          </a:xfrm>
          <a:prstGeom prst="ellipse">
            <a:avLst/>
          </a:prstGeom>
          <a:solidFill>
            <a:srgbClr val="2A9D8F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4389120"/>
            <a:ext cx="4114800" cy="4114800"/>
          </a:xfrm>
          <a:prstGeom prst="ellipse">
            <a:avLst/>
          </a:prstGeom>
          <a:solidFill>
            <a:srgbClr val="E9A13B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87452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밸류업 워싱 스크리너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841248" y="285292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A9C9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공시만 하고, 지키지 않는 기업을 데이터로 걸러낸다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841248" y="340156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C9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OpenDART · KRX · ECOS 실데이터</a:t>
            </a:r>
            <a:pPr indent="0" marL="0">
              <a:buNone/>
            </a:pPr>
            <a:r>
              <a:rPr lang="en-US" sz="1400" b="1" dirty="0">
                <a:solidFill>
                  <a:srgbClr val="2A9D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→  </a:t>
            </a:r>
            <a:pPr indent="0" marL="0">
              <a:buNone/>
            </a:pPr>
            <a:r>
              <a:rPr lang="en-US" sz="1400" dirty="0">
                <a:solidFill>
                  <a:srgbClr val="A9C9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밸류업 이행 점수 + M&amp;A 타겟 점수  →  스크리너 · Tableau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41248" y="4160520"/>
            <a:ext cx="1120140" cy="310896"/>
          </a:xfrm>
          <a:prstGeom prst="roundRect">
            <a:avLst>
              <a:gd name="adj" fmla="val 50000"/>
            </a:avLst>
          </a:prstGeom>
          <a:solidFill>
            <a:srgbClr val="1B414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C9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FastAPI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125980" y="4160520"/>
            <a:ext cx="1225296" cy="310896"/>
          </a:xfrm>
          <a:prstGeom prst="roundRect">
            <a:avLst>
              <a:gd name="adj" fmla="val 50000"/>
            </a:avLst>
          </a:prstGeom>
          <a:solidFill>
            <a:srgbClr val="1B414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C9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 VIEW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515868" y="4160520"/>
            <a:ext cx="1225296" cy="310896"/>
          </a:xfrm>
          <a:prstGeom prst="roundRect">
            <a:avLst>
              <a:gd name="adj" fmla="val 50000"/>
            </a:avLst>
          </a:prstGeom>
          <a:solidFill>
            <a:srgbClr val="1B414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C9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19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905756" y="4160520"/>
            <a:ext cx="1120140" cy="310896"/>
          </a:xfrm>
          <a:prstGeom prst="roundRect">
            <a:avLst>
              <a:gd name="adj" fmla="val 50000"/>
            </a:avLst>
          </a:prstGeom>
          <a:solidFill>
            <a:srgbClr val="1B414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C9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Tableau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190488" y="4160520"/>
            <a:ext cx="1120140" cy="310896"/>
          </a:xfrm>
          <a:prstGeom prst="roundRect">
            <a:avLst>
              <a:gd name="adj" fmla="val 50000"/>
            </a:avLst>
          </a:prstGeom>
          <a:solidFill>
            <a:srgbClr val="1B414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C9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교차검증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41248" y="6172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김다리아  ·  2026-07  ·  github.com/dariajkim-star/valueup-washing-lab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지금인가 — 이행 검증의 공백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3520440" cy="2468880"/>
          </a:xfrm>
          <a:prstGeom prst="roundRect">
            <a:avLst>
              <a:gd name="adj" fmla="val 4444"/>
            </a:avLst>
          </a:prstGeom>
          <a:solidFill>
            <a:srgbClr val="F2F7F6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82880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466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718개사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868680" y="269748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밸류업 공시 사실상 의무화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3127248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 정책 — '말'은 전수 확보됨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434840" y="1463040"/>
            <a:ext cx="3520440" cy="2468880"/>
          </a:xfrm>
          <a:prstGeom prst="roundRect">
            <a:avLst>
              <a:gd name="adj" fmla="val 4444"/>
            </a:avLst>
          </a:prstGeom>
          <a:solidFill>
            <a:srgbClr val="F2F7F6"/>
          </a:solidFill>
          <a:ln/>
        </p:spPr>
      </p:sp>
      <p:sp>
        <p:nvSpPr>
          <p:cNvPr id="8" name="Text 6"/>
          <p:cNvSpPr/>
          <p:nvPr/>
        </p:nvSpPr>
        <p:spPr>
          <a:xfrm>
            <a:off x="4663440" y="182880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466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1.3x vs 2.3x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4663440" y="269748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코스피 PBR vs 글로벌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663440" y="3127248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저평가 해소가 정책 목표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1463040"/>
            <a:ext cx="3520440" cy="2468880"/>
          </a:xfrm>
          <a:prstGeom prst="roundRect">
            <a:avLst>
              <a:gd name="adj" fmla="val 4444"/>
            </a:avLst>
          </a:prstGeom>
          <a:solidFill>
            <a:srgbClr val="F2F7F6"/>
          </a:solidFill>
          <a:ln/>
        </p:spPr>
      </p:sp>
      <p:sp>
        <p:nvSpPr>
          <p:cNvPr id="12" name="Text 10"/>
          <p:cNvSpPr/>
          <p:nvPr/>
        </p:nvSpPr>
        <p:spPr>
          <a:xfrm>
            <a:off x="8458200" y="182880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466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의무소각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8458200" y="269748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상법 개정 — 자사주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458200" y="3127248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'행동'의 검증 대상이 명확해짐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66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공시(말)와 이행(행동)의 갭</a:t>
            </a:r>
            <a:pPr indent="0" marL="0">
              <a:buNone/>
            </a:pPr>
            <a:r>
              <a:rPr lang="en-US" sz="1700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투자·심사 판단의 재료가 되는 시점 — 그 갭을 정량화하는 도구를 직접 만들었다.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45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워싱(washing)  </a:t>
            </a:r>
            <a:pPr indent="0" marL="0">
              <a:buNone/>
            </a:pPr>
            <a:r>
              <a:rPr lang="en-US" sz="135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밸류업을 공시했으나 실제 이행하지 않는 상태.  판정: 진척률 ≥ 0.5  &amp;  달성률 &lt; 0.6  &amp;  자사주 미이행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만들었나 — null이 관통하는 5개 레이어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600200"/>
            <a:ext cx="2048256" cy="1600200"/>
          </a:xfrm>
          <a:prstGeom prst="roundRect">
            <a:avLst>
              <a:gd name="adj" fmla="val 5714"/>
            </a:avLst>
          </a:prstGeom>
          <a:solidFill>
            <a:srgbClr val="1B4147"/>
          </a:solidFill>
          <a:ln/>
        </p:spPr>
      </p:sp>
      <p:sp>
        <p:nvSpPr>
          <p:cNvPr id="4" name="Text 2"/>
          <p:cNvSpPr/>
          <p:nvPr/>
        </p:nvSpPr>
        <p:spPr>
          <a:xfrm>
            <a:off x="768096" y="1755648"/>
            <a:ext cx="1792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68096" y="2212848"/>
            <a:ext cx="1792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DART·KRX·ECOS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 upsert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688336" y="21488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944368" y="1600200"/>
            <a:ext cx="2048256" cy="1600200"/>
          </a:xfrm>
          <a:prstGeom prst="roundRect">
            <a:avLst>
              <a:gd name="adj" fmla="val 5714"/>
            </a:avLst>
          </a:prstGeom>
          <a:solidFill>
            <a:srgbClr val="14665B"/>
          </a:solidFill>
          <a:ln/>
        </p:spPr>
      </p:sp>
      <p:sp>
        <p:nvSpPr>
          <p:cNvPr id="8" name="Text 6"/>
          <p:cNvSpPr/>
          <p:nvPr/>
        </p:nvSpPr>
        <p:spPr>
          <a:xfrm>
            <a:off x="3072384" y="1755648"/>
            <a:ext cx="1792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· SQL VIEW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072384" y="2212848"/>
            <a:ext cx="1792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ROE·PBR·EV/EBITDA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재계산 금지 (AD-1)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992624" y="21488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248656" y="1600200"/>
            <a:ext cx="2048256" cy="1600200"/>
          </a:xfrm>
          <a:prstGeom prst="roundRect">
            <a:avLst>
              <a:gd name="adj" fmla="val 5714"/>
            </a:avLst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5376672" y="1755648"/>
            <a:ext cx="1792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FastAPI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376672" y="2212848"/>
            <a:ext cx="1792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5개 라우터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has_*_score 구분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296912" y="21488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7552944" y="1600200"/>
            <a:ext cx="2048256" cy="1600200"/>
          </a:xfrm>
          <a:prstGeom prst="roundRect">
            <a:avLst>
              <a:gd name="adj" fmla="val 5714"/>
            </a:avLst>
          </a:prstGeom>
          <a:solidFill>
            <a:srgbClr val="2A9D8F"/>
          </a:solidFill>
          <a:ln/>
        </p:spPr>
      </p:sp>
      <p:sp>
        <p:nvSpPr>
          <p:cNvPr id="16" name="Text 14"/>
          <p:cNvSpPr/>
          <p:nvPr/>
        </p:nvSpPr>
        <p:spPr>
          <a:xfrm>
            <a:off x="7680960" y="1755648"/>
            <a:ext cx="1792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SPA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680960" y="2212848"/>
            <a:ext cx="1792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스크리너·상세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6상태 시각 언어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9601200" y="21488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857232" y="1600200"/>
            <a:ext cx="2048256" cy="1600200"/>
          </a:xfrm>
          <a:prstGeom prst="roundRect">
            <a:avLst>
              <a:gd name="adj" fmla="val 5714"/>
            </a:avLst>
          </a:prstGeom>
          <a:solidFill>
            <a:srgbClr val="E9A13B"/>
          </a:solidFill>
          <a:ln/>
        </p:spPr>
      </p:sp>
      <p:sp>
        <p:nvSpPr>
          <p:cNvPr id="20" name="Text 18"/>
          <p:cNvSpPr/>
          <p:nvPr/>
        </p:nvSpPr>
        <p:spPr>
          <a:xfrm>
            <a:off x="9985248" y="1755648"/>
            <a:ext cx="1792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CSV → Tableau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985248" y="2212848"/>
            <a:ext cx="1792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원자적 스냅숏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manifest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0080" y="3611880"/>
            <a:ext cx="10972800" cy="658368"/>
          </a:xfrm>
          <a:prstGeom prst="roundRect">
            <a:avLst>
              <a:gd name="adj" fmla="val 13889"/>
            </a:avLst>
          </a:prstGeom>
          <a:solidFill>
            <a:srgbClr val="F2F7F6"/>
          </a:solidFill>
          <a:ln/>
        </p:spPr>
      </p:sp>
      <p:sp>
        <p:nvSpPr>
          <p:cNvPr id="23" name="Text 21"/>
          <p:cNvSpPr/>
          <p:nvPr/>
        </p:nvSpPr>
        <p:spPr>
          <a:xfrm>
            <a:off x="868680" y="37033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66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관통 원칙: </a:t>
            </a:r>
            <a:pPr indent="0" marL="0">
              <a:buNone/>
            </a:pPr>
            <a:r>
              <a:rPr lang="en-US" sz="1500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"모름(null)"이 다섯 레이어를 그대로 통과한다 — 어느 층도 null을 0·빈칸·"아니오"로 세탁하지 않는다.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40080" y="47091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에픽 · 22 스토리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0080" y="50749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BMAD 스토리 단위 개발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434840" y="47091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백엔드 246 + 프론트 56 테스트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434840" y="50749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키 없이 전부 통과 (CI 가능)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29600" y="47091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엔진 2종 · 유일 writer 규칙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29600" y="50749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gap_engine / mna_engine (AD-3·4·10)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① 애널리스트 스크리너</a:t>
            </a:r>
            <a:endParaRPr lang="en-US" sz="3400" dirty="0"/>
          </a:p>
        </p:txBody>
      </p:sp>
      <p:pic>
        <p:nvPicPr>
          <p:cNvPr id="3" name="Image 0" descr="ui_scree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92040" y="1325880"/>
            <a:ext cx="6858000" cy="487375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618488"/>
            <a:ext cx="384048" cy="384048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5" name="Text 2"/>
          <p:cNvSpPr/>
          <p:nvPr/>
        </p:nvSpPr>
        <p:spPr>
          <a:xfrm>
            <a:off x="64008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1188720" y="160020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필터 → 즉시 랭킹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188720" y="201168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시장·업종·시총 + ROE/PBR/EV/EBITDA/부채비율 슬라이더, 워싱 의심 토글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" y="2990088"/>
            <a:ext cx="384048" cy="384048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2990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188720" y="297180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스코어 모드 전환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188720" y="338328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Value-up ↔ M&amp;A 탭 전환 시 정렬 기준 자동 스왑 — 라이브 검증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40080" y="4361688"/>
            <a:ext cx="384048" cy="384048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4361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188720" y="434340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상태를 숨기지 않는 리스트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188720" y="475488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판단불가·미집계·미지원업종 칩이 점수와 같은 급으로 노출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4892040" y="626364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Figma 시안 (UX-DR1·2) — React 19 + TanStack Table로 구현, 네트워크 로그로 배선 실증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② 종목 상세 — 근거까지 한 화면</a:t>
            </a:r>
            <a:endParaRPr lang="en-US" sz="3400" dirty="0"/>
          </a:p>
        </p:txBody>
      </p:sp>
      <p:pic>
        <p:nvPicPr>
          <p:cNvPr id="3" name="Image 0" descr="ui_det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25880"/>
            <a:ext cx="6858000" cy="487375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818120" y="1618488"/>
            <a:ext cx="384048" cy="384048"/>
          </a:xfrm>
          <a:prstGeom prst="ellipse">
            <a:avLst/>
          </a:prstGeom>
          <a:solidFill>
            <a:srgbClr val="E9A13B"/>
          </a:solidFill>
          <a:ln/>
        </p:spPr>
      </p:sp>
      <p:sp>
        <p:nvSpPr>
          <p:cNvPr id="5" name="Text 2"/>
          <p:cNvSpPr/>
          <p:nvPr/>
        </p:nvSpPr>
        <p:spPr>
          <a:xfrm>
            <a:off x="78181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8366760" y="16002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 vs 실제 갭 카드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366760" y="201168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ROE → 실제 ROE → 갭(+3.1%p), 달성률·진척률·자사주 이행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818120" y="2990088"/>
            <a:ext cx="384048" cy="384048"/>
          </a:xfrm>
          <a:prstGeom prst="ellipse">
            <a:avLst/>
          </a:prstGeom>
          <a:solidFill>
            <a:srgbClr val="E9A13B"/>
          </a:solidFill>
          <a:ln/>
        </p:spPr>
      </p:sp>
      <p:sp>
        <p:nvSpPr>
          <p:cNvPr id="9" name="Text 6"/>
          <p:cNvSpPr/>
          <p:nvPr/>
        </p:nvSpPr>
        <p:spPr>
          <a:xfrm>
            <a:off x="7818120" y="2990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366760" y="29718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M&amp;A 4요소 분해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366760" y="338328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저평가 0.35 · 인수여력 0.25 · 지배구조 0.25 · 매크로 0.15 + 모집단 근거 칩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818120" y="4361688"/>
            <a:ext cx="384048" cy="384048"/>
          </a:xfrm>
          <a:prstGeom prst="ellipse">
            <a:avLst/>
          </a:prstGeom>
          <a:solidFill>
            <a:srgbClr val="E9A13B"/>
          </a:solidFill>
          <a:ln/>
        </p:spPr>
      </p:sp>
      <p:sp>
        <p:nvSpPr>
          <p:cNvPr id="13" name="Text 10"/>
          <p:cNvSpPr/>
          <p:nvPr/>
        </p:nvSpPr>
        <p:spPr>
          <a:xfrm>
            <a:off x="7818120" y="4361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366760" y="43434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태깅의 절제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8366760" y="475488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지표가 null이면 태그를 만들지 않는다 — 0으로 채워 태깅하지 않음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640080" y="626364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Figma 시안 (UX-DR3·4) — as_of 체이닝으로 4개 API 병렬 호출의 기준일 혼합 차단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스코어 엔진 2종 — 같은 데이터, 상반된 관점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5440680" cy="4572000"/>
          </a:xfrm>
          <a:prstGeom prst="roundRect">
            <a:avLst>
              <a:gd name="adj" fmla="val 2400"/>
            </a:avLst>
          </a:prstGeom>
          <a:solidFill>
            <a:srgbClr val="F2F7F6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691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66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Value-up 실행점수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1440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공시한 계획을 지키고 있는가 (0~100)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60604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달성률</a:t>
            </a:r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= 실제 지표 / 목표 지표
</a:t>
            </a:r>
            <a:pPr indent="0" marL="0">
              <a:lnSpc>
                <a:spcPct val="135000"/>
              </a:lnSpc>
              <a:buNone/>
            </a:pPr>
            <a:r>
              <a:rPr lang="en-US" sz="14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진척률</a:t>
            </a:r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= 목표기간 경과 비율 (as_of 기준)
</a:t>
            </a:r>
            <a:pPr indent="0" marL="0">
              <a:lnSpc>
                <a:spcPct val="135000"/>
              </a:lnSpc>
              <a:buNone/>
            </a:pPr>
            <a:r>
              <a:rPr lang="en-US" sz="14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자사주</a:t>
            </a:r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= 취득만 했나, 소각까지 했나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3977640"/>
            <a:ext cx="48920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C7455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43000" y="4133088"/>
            <a:ext cx="4480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C745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워싱 판정 (Kleene 3치 논리)
</a:t>
            </a:r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진척률 ≥ 0.5  &amp;  달성률 &lt; 0.6  &amp;  자사주 미이행
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근거가 부족하면 True/False가 아니라 null(판단 불가) — 소각 확정 기업은 진척률을 몰라도 확정 False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355080" y="1417320"/>
            <a:ext cx="5440680" cy="4572000"/>
          </a:xfrm>
          <a:prstGeom prst="roundRect">
            <a:avLst>
              <a:gd name="adj" fmla="val 2400"/>
            </a:avLst>
          </a:prstGeom>
          <a:solidFill>
            <a:srgbClr val="F2F7F6"/>
          </a:solidFill>
          <a:ln/>
        </p:spPr>
      </p:sp>
      <p:sp>
        <p:nvSpPr>
          <p:cNvPr id="10" name="Text 8"/>
          <p:cNvSpPr/>
          <p:nvPr/>
        </p:nvSpPr>
        <p:spPr>
          <a:xfrm>
            <a:off x="6629400" y="1691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66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M&amp;A 타겟 점수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662940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인수 매력도 — 4요소 가중합 (0~100)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29400" y="26974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저평가 (EV/EBITDA·PBR)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692640" y="2734056"/>
            <a:ext cx="1417320" cy="219456"/>
          </a:xfrm>
          <a:prstGeom prst="roundRect">
            <a:avLst>
              <a:gd name="adj" fmla="val 25000"/>
            </a:avLst>
          </a:prstGeom>
          <a:solidFill>
            <a:srgbClr val="DDE7E5"/>
          </a:solidFill>
          <a:ln/>
        </p:spPr>
      </p:sp>
      <p:sp>
        <p:nvSpPr>
          <p:cNvPr id="14" name="Shape 12"/>
          <p:cNvSpPr/>
          <p:nvPr/>
        </p:nvSpPr>
        <p:spPr>
          <a:xfrm>
            <a:off x="9692640" y="2734056"/>
            <a:ext cx="1417320" cy="219456"/>
          </a:xfrm>
          <a:prstGeom prst="roundRect">
            <a:avLst>
              <a:gd name="adj" fmla="val 25000"/>
            </a:avLst>
          </a:prstGeom>
          <a:solidFill>
            <a:srgbClr val="2A9D8F"/>
          </a:solidFill>
          <a:ln/>
        </p:spPr>
      </p:sp>
      <p:sp>
        <p:nvSpPr>
          <p:cNvPr id="15" name="Text 13"/>
          <p:cNvSpPr/>
          <p:nvPr/>
        </p:nvSpPr>
        <p:spPr>
          <a:xfrm>
            <a:off x="11155680" y="2679192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66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0.35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629400" y="326440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인수여력 (순현금·부채)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9692640" y="3300984"/>
            <a:ext cx="1417320" cy="219456"/>
          </a:xfrm>
          <a:prstGeom prst="roundRect">
            <a:avLst>
              <a:gd name="adj" fmla="val 25000"/>
            </a:avLst>
          </a:prstGeom>
          <a:solidFill>
            <a:srgbClr val="DDE7E5"/>
          </a:solidFill>
          <a:ln/>
        </p:spPr>
      </p:sp>
      <p:sp>
        <p:nvSpPr>
          <p:cNvPr id="18" name="Shape 16"/>
          <p:cNvSpPr/>
          <p:nvPr/>
        </p:nvSpPr>
        <p:spPr>
          <a:xfrm>
            <a:off x="9692640" y="3300984"/>
            <a:ext cx="1012371" cy="219456"/>
          </a:xfrm>
          <a:prstGeom prst="roundRect">
            <a:avLst>
              <a:gd name="adj" fmla="val 25000"/>
            </a:avLst>
          </a:prstGeom>
          <a:solidFill>
            <a:srgbClr val="2A9D8F"/>
          </a:solidFill>
          <a:ln/>
        </p:spPr>
      </p:sp>
      <p:sp>
        <p:nvSpPr>
          <p:cNvPr id="19" name="Text 17"/>
          <p:cNvSpPr/>
          <p:nvPr/>
        </p:nvSpPr>
        <p:spPr>
          <a:xfrm>
            <a:off x="11155680" y="32461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66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0.25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629400" y="383133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지배구조 (최대주주 지분)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9692640" y="3867912"/>
            <a:ext cx="1417320" cy="219456"/>
          </a:xfrm>
          <a:prstGeom prst="roundRect">
            <a:avLst>
              <a:gd name="adj" fmla="val 25000"/>
            </a:avLst>
          </a:prstGeom>
          <a:solidFill>
            <a:srgbClr val="DDE7E5"/>
          </a:solidFill>
          <a:ln/>
        </p:spPr>
      </p:sp>
      <p:sp>
        <p:nvSpPr>
          <p:cNvPr id="22" name="Shape 20"/>
          <p:cNvSpPr/>
          <p:nvPr/>
        </p:nvSpPr>
        <p:spPr>
          <a:xfrm>
            <a:off x="9692640" y="3867912"/>
            <a:ext cx="1012371" cy="219456"/>
          </a:xfrm>
          <a:prstGeom prst="roundRect">
            <a:avLst>
              <a:gd name="adj" fmla="val 25000"/>
            </a:avLst>
          </a:prstGeom>
          <a:solidFill>
            <a:srgbClr val="2A9D8F"/>
          </a:solidFill>
          <a:ln/>
        </p:spPr>
      </p:sp>
      <p:sp>
        <p:nvSpPr>
          <p:cNvPr id="23" name="Text 21"/>
          <p:cNvSpPr/>
          <p:nvPr/>
        </p:nvSpPr>
        <p:spPr>
          <a:xfrm>
            <a:off x="11155680" y="381304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66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0.25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629400" y="4398264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매크로 (금리·환율 국면)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9692640" y="4434840"/>
            <a:ext cx="1417320" cy="219456"/>
          </a:xfrm>
          <a:prstGeom prst="roundRect">
            <a:avLst>
              <a:gd name="adj" fmla="val 25000"/>
            </a:avLst>
          </a:prstGeom>
          <a:solidFill>
            <a:srgbClr val="DDE7E5"/>
          </a:solidFill>
          <a:ln/>
        </p:spPr>
      </p:sp>
      <p:sp>
        <p:nvSpPr>
          <p:cNvPr id="26" name="Shape 24"/>
          <p:cNvSpPr/>
          <p:nvPr/>
        </p:nvSpPr>
        <p:spPr>
          <a:xfrm>
            <a:off x="9692640" y="4434840"/>
            <a:ext cx="607423" cy="219456"/>
          </a:xfrm>
          <a:prstGeom prst="roundRect">
            <a:avLst>
              <a:gd name="adj" fmla="val 25000"/>
            </a:avLst>
          </a:prstGeom>
          <a:solidFill>
            <a:srgbClr val="2A9D8F"/>
          </a:solidFill>
          <a:ln/>
        </p:spPr>
      </p:sp>
      <p:sp>
        <p:nvSpPr>
          <p:cNvPr id="27" name="Text 25"/>
          <p:cNvSpPr/>
          <p:nvPr/>
        </p:nvSpPr>
        <p:spPr>
          <a:xfrm>
            <a:off x="11155680" y="4379976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66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0.15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629400" y="512064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업종 내 백분위(KSIC) 기본, 소표본이면 전체시장 폴백 — </a:t>
            </a:r>
            <a:pPr indent="0" marL="0">
              <a:buNone/>
            </a:pPr>
            <a:r>
              <a:rPr lang="en-US" sz="115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모집단인지 population_basis로 명시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원칙 — 정직한 null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A9C9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"판단할 수 없는 것을 판단한 척하지 않는다"</a:t>
            </a:r>
            <a:endParaRPr lang="en-US" sz="2000" dirty="0"/>
          </a:p>
        </p:txBody>
      </p:sp>
      <p:pic>
        <p:nvPicPr>
          <p:cNvPr id="4" name="Image 0" descr="ui_lege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83880" y="1234440"/>
            <a:ext cx="3602736" cy="51206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2148840"/>
            <a:ext cx="7223760" cy="1143000"/>
          </a:xfrm>
          <a:prstGeom prst="roundRect">
            <a:avLst>
              <a:gd name="adj" fmla="val 8000"/>
            </a:avLst>
          </a:prstGeom>
          <a:solidFill>
            <a:srgbClr val="1B4147"/>
          </a:solidFill>
          <a:ln/>
        </p:spPr>
      </p:sp>
      <p:sp>
        <p:nvSpPr>
          <p:cNvPr id="6" name="Text 3"/>
          <p:cNvSpPr/>
          <p:nvPr/>
        </p:nvSpPr>
        <p:spPr>
          <a:xfrm>
            <a:off x="868680" y="2276856"/>
            <a:ext cx="676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6가지 상태를 구분해 그린다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868680" y="2660904"/>
            <a:ext cx="6766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C9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워싱 의심 · 근거 없음 · 판단 불가 · 산출 불가 · 미집계 · 미지원 업종 — 각각 다른 시각 언어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40080" y="3474720"/>
            <a:ext cx="7223760" cy="1143000"/>
          </a:xfrm>
          <a:prstGeom prst="roundRect">
            <a:avLst>
              <a:gd name="adj" fmla="val 8000"/>
            </a:avLst>
          </a:prstGeom>
          <a:solidFill>
            <a:srgbClr val="1B4147"/>
          </a:solidFill>
          <a:ln/>
        </p:spPr>
      </p:sp>
      <p:sp>
        <p:nvSpPr>
          <p:cNvPr id="9" name="Text 6"/>
          <p:cNvSpPr/>
          <p:nvPr/>
        </p:nvSpPr>
        <p:spPr>
          <a:xfrm>
            <a:off x="868680" y="3602736"/>
            <a:ext cx="676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실데이터 검증 (33종목)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868680" y="3986784"/>
            <a:ext cx="6766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C9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없음 18 · 판단 불가 8 · 워싱 확정 0 — 오탐을 만들지 않는 게 설계 목표 (카운터메트릭 SM-C2)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" y="4800600"/>
            <a:ext cx="7223760" cy="1143000"/>
          </a:xfrm>
          <a:prstGeom prst="roundRect">
            <a:avLst>
              <a:gd name="adj" fmla="val 8000"/>
            </a:avLst>
          </a:prstGeom>
          <a:solidFill>
            <a:srgbClr val="1B4147"/>
          </a:solidFill>
          <a:ln/>
        </p:spPr>
      </p:sp>
      <p:sp>
        <p:nvSpPr>
          <p:cNvPr id="12" name="Text 9"/>
          <p:cNvSpPr/>
          <p:nvPr/>
        </p:nvSpPr>
        <p:spPr>
          <a:xfrm>
            <a:off x="868680" y="4928616"/>
            <a:ext cx="676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도메인 요구사항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868680" y="5312664"/>
            <a:ext cx="6766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C9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신용평가·심사에서 "불확실을 확실로 세탁하지 않는 것"은 스타일이 아니라 요구사항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183880" y="6400800"/>
            <a:ext cx="3602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A9C9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Figma 범례 시트 — 6상태 시각 언어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방식 — 두 모델의 교차 리뷰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F2F7F6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536192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66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 / 22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68680" y="2249424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스토리 교차 리뷰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615184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Claude × 리뷰 GPT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434840" y="137160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F2F7F6"/>
          </a:solidFill>
          <a:ln/>
        </p:spPr>
      </p:sp>
      <p:sp>
        <p:nvSpPr>
          <p:cNvPr id="8" name="Text 6"/>
          <p:cNvSpPr/>
          <p:nvPr/>
        </p:nvSpPr>
        <p:spPr>
          <a:xfrm>
            <a:off x="4663440" y="1536192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66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302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4663440" y="2249424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통과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615184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백엔드 246 + 프론트 56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229600" y="137160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F2F7F6"/>
          </a:solidFill>
          <a:ln/>
        </p:spPr>
      </p:sp>
      <p:sp>
        <p:nvSpPr>
          <p:cNvPr id="12" name="Text 10"/>
          <p:cNvSpPr/>
          <p:nvPr/>
        </p:nvSpPr>
        <p:spPr>
          <a:xfrm>
            <a:off x="8458200" y="1536192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66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라운드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8458200" y="2249424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 → 재작업 → 수렴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458200" y="2615184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지적이 구조적 → 세부로 수렴 (3.3)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40080" y="35204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리뷰가 잡아낸 실질 결함 (예시)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2960" y="393192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오류의 400 세탁 (2.6)</a:t>
            </a:r>
            <a:endParaRPr lang="en-US" sz="13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pydantic ValidationError ⊂ ValueError 함정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4개 API 병렬 호출의 기준일 혼합 (3.4)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스냅숏 부분 실패 시 세대 혼합 (3.5)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355080" y="35204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맹종하지 않는 리뷰 소비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537960" y="3931920"/>
            <a:ext cx="5074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전문 verbatim 전달 (축약 금지 규칙)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patch / defer / dismiss로 triage — 전량 스토리 문서에 기록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처방 대신 더 싼 해법 관철 (as_of 체이닝·교집합 기준일)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리뷰어 오탐은 사실관계로 반박·기각 — 기록 유지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 후 CX 분석 — 세 방법론이 같은 곳을 가리켰다</a:t>
            </a:r>
            <a:endParaRPr lang="en-US" sz="3200" dirty="0"/>
          </a:p>
        </p:txBody>
      </p:sp>
      <p:pic>
        <p:nvPicPr>
          <p:cNvPr id="3" name="Image 0" descr="cx-HEART-스파이더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417320"/>
            <a:ext cx="3383280" cy="3383280"/>
          </a:xfrm>
          <a:prstGeom prst="rect">
            <a:avLst/>
          </a:prstGeom>
        </p:spPr>
      </p:pic>
      <p:pic>
        <p:nvPicPr>
          <p:cNvPr id="4" name="Image 1" descr="cx-IPA-사분면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417320"/>
            <a:ext cx="4032504" cy="338328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8778240" y="1417320"/>
            <a:ext cx="2880360" cy="3383280"/>
          </a:xfrm>
          <a:prstGeom prst="roundRect">
            <a:avLst>
              <a:gd name="adj" fmla="val 3810"/>
            </a:avLst>
          </a:prstGeom>
          <a:solidFill>
            <a:srgbClr val="F2F7F6"/>
          </a:solidFill>
          <a:ln/>
        </p:spPr>
      </p:sp>
      <p:sp>
        <p:nvSpPr>
          <p:cNvPr id="6" name="Text 2"/>
          <p:cNvSpPr/>
          <p:nvPr/>
        </p:nvSpPr>
        <p:spPr>
          <a:xfrm>
            <a:off x="9006840" y="16002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66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수렴한 결론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9006840" y="2057400"/>
            <a:ext cx="2468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여정 3단계 감정 꺾임
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HEART Task Success 3.0
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IPA 집중개선 구역
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execution_score 커버리지 하나를 가리킴 — "한계와 판단" §1과 정확히 일치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777240" y="507492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강점 유지 구역 = 품질 투자 지점 (오탐 방지·정직한 null·배선 실증)  ·  </a:t>
            </a:r>
            <a:pPr indent="0" marL="0">
              <a:buNone/>
            </a:pPr>
            <a:r>
              <a:rPr lang="en-US" sz="125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여정 지도 + Google HEART + IPA, 점수는 실측 근거의 전문가 판정 추정(실사용자 리서치 없음 명시)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한계와 판단 — 의도적으로 안 한 것들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430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리스크를 식별하고도 비용 대비 판단으로 미구현을 선택한 항목 — 숨기는 대신 README에 명시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972800" cy="786384"/>
          </a:xfrm>
          <a:prstGeom prst="roundRect">
            <a:avLst>
              <a:gd name="adj" fmla="val 9302"/>
            </a:avLst>
          </a:prstGeom>
          <a:solidFill>
            <a:srgbClr val="FBF3E6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64792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A5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execution_score 커버리지 (33종목 중 1)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892040" y="1764792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원인은 원천 데이터(자유서식 공시). 파서 24→42% 개선 후 수확체감 — 정직 노출을 원칙으로 채택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40080" y="2587752"/>
            <a:ext cx="10972800" cy="786384"/>
          </a:xfrm>
          <a:prstGeom prst="roundRect">
            <a:avLst>
              <a:gd name="adj" fmla="val 9302"/>
            </a:avLst>
          </a:prstGeom>
          <a:solidFill>
            <a:srgbClr val="F2F7F6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66090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score_run 배치 메타데이터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892040" y="2660904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사용자 로컬 + 완화장치(교집합 as_of·manifest·has_* 플래그) — 기록으로 마감, 운영화 시 처방 명시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3483864"/>
            <a:ext cx="10972800" cy="786384"/>
          </a:xfrm>
          <a:prstGeom prst="roundRect">
            <a:avLst>
              <a:gd name="adj" fmla="val 9302"/>
            </a:avLst>
          </a:prstGeom>
          <a:solidFill>
            <a:srgbClr val="F2F7F6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557016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 point-in-time 미보장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892040" y="3557016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 as_of 조회에 전역 최신가 — 백테스트 부적합을 문서로 선언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4379976"/>
            <a:ext cx="10972800" cy="786384"/>
          </a:xfrm>
          <a:prstGeom prst="roundRect">
            <a:avLst>
              <a:gd name="adj" fmla="val 9302"/>
            </a:avLst>
          </a:prstGeom>
          <a:solidFill>
            <a:srgbClr val="F2F7F6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45312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look-ahead 부분 차단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892040" y="4453128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해 사업보고서만 배제 — available_at 데이터 없이는 완전 차단 불가, API-CSV 패리티는 유지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5276088"/>
            <a:ext cx="10972800" cy="786384"/>
          </a:xfrm>
          <a:prstGeom prst="roundRect">
            <a:avLst>
              <a:gd name="adj" fmla="val 9302"/>
            </a:avLst>
          </a:prstGeom>
          <a:solidFill>
            <a:srgbClr val="F2F7F6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534924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envelope 없음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892040" y="5349240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의도적 로컬 전용(아키텍처 결정) — 운영 배포 시 필요 항목을 미리 기록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v2 로드맵 — CX 분석이 정한 우선순위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3520440" cy="2880360"/>
          </a:xfrm>
          <a:prstGeom prst="roundRect">
            <a:avLst>
              <a:gd name="adj" fmla="val 3810"/>
            </a:avLst>
          </a:prstGeom>
          <a:solidFill>
            <a:srgbClr val="F2F7F6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645920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1466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P1-1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68680" y="21031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execution_score 커버리지 확대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2926080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배당·주주환원율을 목표 필드로 분리 수집 — 파서가 아닌 스키마로 해결. 기대: 산출 1 → 두 자릿수 종목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434840" y="1417320"/>
            <a:ext cx="3520440" cy="2880360"/>
          </a:xfrm>
          <a:prstGeom prst="roundRect">
            <a:avLst>
              <a:gd name="adj" fmla="val 3810"/>
            </a:avLst>
          </a:prstGeom>
          <a:solidFill>
            <a:srgbClr val="F2F7F6"/>
          </a:solidFill>
          <a:ln/>
        </p:spPr>
      </p:sp>
      <p:sp>
        <p:nvSpPr>
          <p:cNvPr id="8" name="Text 6"/>
          <p:cNvSpPr/>
          <p:nvPr/>
        </p:nvSpPr>
        <p:spPr>
          <a:xfrm>
            <a:off x="4663440" y="1645920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P1-2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63440" y="21031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밸류업 목표 파싱 정확도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42%에서 수확체감 — 자동 파서 + 수동 태깅 하이브리드로 전환 (전수 자동화 포기 선언)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1417320"/>
            <a:ext cx="3520440" cy="2880360"/>
          </a:xfrm>
          <a:prstGeom prst="roundRect">
            <a:avLst>
              <a:gd name="adj" fmla="val 3810"/>
            </a:avLst>
          </a:prstGeom>
          <a:solidFill>
            <a:srgbClr val="F2F7F6"/>
          </a:solidFill>
          <a:ln/>
        </p:spPr>
      </p:sp>
      <p:sp>
        <p:nvSpPr>
          <p:cNvPr id="12" name="Text 10"/>
          <p:cNvSpPr/>
          <p:nvPr/>
        </p:nvSpPr>
        <p:spPr>
          <a:xfrm>
            <a:off x="8458200" y="1645920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E9A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458200" y="21031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유니버스 확대 (조건부)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458200" y="2926080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 → 코스피 전체. 선행조건: P1-1로 커버리지 프레임 확보 후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4617720"/>
            <a:ext cx="10972800" cy="1051560"/>
          </a:xfrm>
          <a:prstGeom prst="roundRect">
            <a:avLst>
              <a:gd name="adj" fmla="val 8696"/>
            </a:avLst>
          </a:prstGeom>
          <a:solidFill>
            <a:srgbClr val="0F2E33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4754880"/>
            <a:ext cx="6675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A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하지 않을 것: </a:t>
            </a:r>
            <a:pPr indent="0" marL="0">
              <a:buNone/>
            </a:pPr>
            <a:r>
              <a:rPr lang="en-US" sz="1300" dirty="0">
                <a:solidFill>
                  <a:srgbClr val="A9C9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성능 최적화·매크로 확장 — IPA 과잉주의 구역, 유니버스 확대 전까지 보류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726680" y="475488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A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 판정: </a:t>
            </a:r>
            <a:pPr indent="0" marL="0">
              <a:buNone/>
            </a:pPr>
            <a:r>
              <a:rPr lang="en-US" sz="1300" dirty="0">
                <a:solidFill>
                  <a:srgbClr val="A9C9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HEART 재채점 UJ-1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A9C9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Success 3.0 → 4.0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3474720"/>
            <a:ext cx="5943600" cy="5943600"/>
          </a:xfrm>
          <a:prstGeom prst="ellipse">
            <a:avLst/>
          </a:prstGeom>
          <a:solidFill>
            <a:srgbClr val="2A9D8F">
              <a:alpha val="12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858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프로젝트가 증명하는 것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1645920"/>
            <a:ext cx="502920" cy="502920"/>
          </a:xfrm>
          <a:prstGeom prst="ellipse">
            <a:avLst/>
          </a:prstGeom>
          <a:solidFill>
            <a:srgbClr val="2A9D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554480" y="160020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정직한 null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554480" y="21031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9C9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불확실을 확실로 세탁하지 않는 설계 — DB부터 Tableau까지 관통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22960" y="2880360"/>
            <a:ext cx="502920" cy="502920"/>
          </a:xfrm>
          <a:prstGeom prst="ellipse">
            <a:avLst/>
          </a:prstGeom>
          <a:solidFill>
            <a:srgbClr val="2A9D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8346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교차검증의 습관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554480" y="33375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9C9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교차 리뷰 · 배선 실증 · CX 3방법론 — 검증을 워크플로우로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22960" y="4114800"/>
            <a:ext cx="502920" cy="502920"/>
          </a:xfrm>
          <a:prstGeom prst="ellipse">
            <a:avLst/>
          </a:prstGeom>
          <a:solidFill>
            <a:srgbClr val="2A9D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406908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판단의 기록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554480" y="45720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9C9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구현하지 않은 것도 근거와 함께 문서화 — 마감 결정 2건, 한계 5항목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22960" y="5394960"/>
            <a:ext cx="10515600" cy="868680"/>
          </a:xfrm>
          <a:prstGeom prst="roundRect">
            <a:avLst>
              <a:gd name="adj" fmla="val 10526"/>
            </a:avLst>
          </a:prstGeom>
          <a:solidFill>
            <a:srgbClr val="1B4147"/>
          </a:solidFill>
          <a:ln/>
        </p:spPr>
      </p:sp>
      <p:sp>
        <p:nvSpPr>
          <p:cNvPr id="14" name="Text 12"/>
          <p:cNvSpPr/>
          <p:nvPr/>
        </p:nvSpPr>
        <p:spPr>
          <a:xfrm>
            <a:off x="1051560" y="5504688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A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   </a:t>
            </a:r>
            <a:pPr indent="0" marL="0">
              <a:buNone/>
            </a:pPr>
            <a:r>
              <a:rPr lang="en-US" sz="1300" dirty="0">
                <a:solidFill>
                  <a:srgbClr val="A9C9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GitHub(코드·스토리 22건·리뷰 번들·회고 3건)  ·  Tableau .twbx(더블클릭 실행)  ·  Figma(UI·CX 시각화)  ·  CX 분석 문서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2960" y="6400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 — github.com/dariajkim-star/valueup-washing-lab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2026-07-20T01:55:20Z</dcterms:created>
  <dcterms:modified xsi:type="dcterms:W3CDTF">2026-07-20T01:55:20Z</dcterms:modified>
</cp:coreProperties>
</file>