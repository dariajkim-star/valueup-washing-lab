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 훅: 2026년 밸류업 공시는 사실상 의무 — 그런데 공시대로 이행하는지 검증하는 도구는 없다. 그 갭을 실데이터로 정량화했다.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정책 맥락 3개 숫자. 워싱 정의를 여기서 미리 심어두면 뒤 슬라이드가 빨라진다.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역순 내러티브의 지도. 이후 화면→스코어→원칙 순으로 내려간다.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데모 대체 화면. 실제 시연 가능(uvicorn+Vite). 배선 실증 DoD 이야기로 신뢰 확보.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갭 카드가 UJ-1의 클라이맥스. as_of 체이닝은 리뷰 지적을 더 싼 해법으로 관철한 사례.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관점 공존(SM-3)이 차별점 — 같은 기업이 워싱 의심이면서 M&amp;A 매력일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프로젝트의 심장. 커버리지 한계 질문이 나오면 여기 원칙으로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도구를 쓰되 판단은 남긴다 — 컨설턴트 포지셔닝의 근거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마감 판단을 사후 CX로 교차검증했다는 게 포인트 — 한계 인정이 감이 아니라 방법론으로 뒷받침됨.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§1(황색 하이라이트)이 CX 집중개선과 일치 — v2의 유일한 우선 후보. 나머지는 판단 기록.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v2는 열려 있되 우선순위가 데이터(IPA)로 정해져 있음을 보여준다. '하지 않을 것'이 성숙도의 신호.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역순 내러티브 마무리: 화면에서 시작해 원칙으로 끝났다. 질문은 한계 §1(커버리지)로 유도되며, 그 답이 S7 원칙이다.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858000" cy="68580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41280" y="4389120"/>
            <a:ext cx="4114800" cy="4114800"/>
          </a:xfrm>
          <a:prstGeom prst="ellipse">
            <a:avLst/>
          </a:prstGeom>
          <a:solidFill>
            <a:srgbClr val="E9A13B">
              <a:alpha val="1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밸류업 워싱 스크리너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41248" y="2852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공시만 하고, 지키지 않는 기업을 데이터로 걸러낸다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41248" y="34015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OpenDART · KRX · ECOS 실데이터</a:t>
            </a:r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</a:t>
            </a:r>
            <a:pPr indent="0" marL="0">
              <a:buNone/>
            </a:pPr>
            <a:r>
              <a:rPr lang="en-US" sz="14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밸류업 이행 점수 + M&amp;A 타겟 점수  →  스크리너 · Tableau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416052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1B41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25980" y="416052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1B41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15868" y="416052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1B41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05756" y="416052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1B41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Tableau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90488" y="416052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1B41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교차검증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김다리아  ·  2026-08  ·  github.com/dariajkim-star/valueup-washing-lab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 — 이행 검증의 공백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718개사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밸류업 공시 사실상 의무화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1272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정책 — '말'은 전수 확보됨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46304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63440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1.3x vs 2.3x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66344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 PBR vs 글로벌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31272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저평가 해소가 정책 목표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58200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의무소각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45820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상법 개정 — 자사주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31272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'행동'의 검증 대상이 명확해짐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공시(말)와 이행(행동)의 갭</a:t>
            </a:r>
            <a:pPr indent="0" marL="0">
              <a:buNone/>
            </a:pPr>
            <a:r>
              <a:rPr lang="en-US" sz="170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투자·심사 판단의 재료가 되는 시점 — 그 갭을 정량화하는 도구를 직접 만들었다.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4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워싱(washing)  </a:t>
            </a:r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밸류업을 공시했으나 실제 이행하지 않는 상태.  판정: 진척률 ≥ 0.5  &amp;  달성률 &lt; 0.6  &amp;  자사주 미이행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만들었나 — null이 관통하는 5개 레이어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048256" cy="1600200"/>
          </a:xfrm>
          <a:prstGeom prst="roundRect">
            <a:avLst>
              <a:gd name="adj" fmla="val 5714"/>
            </a:avLst>
          </a:prstGeom>
          <a:solidFill>
            <a:srgbClr val="1B414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68096" y="175564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" y="221284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DART·KRX·ECOS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 upsert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88336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44368" y="1600200"/>
            <a:ext cx="2048256" cy="1600200"/>
          </a:xfrm>
          <a:prstGeom prst="roundRect">
            <a:avLst>
              <a:gd name="adj" fmla="val 5714"/>
            </a:avLst>
          </a:prstGeom>
          <a:solidFill>
            <a:srgbClr val="14665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072384" y="175564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SQL 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72384" y="221284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ROE·PBR·EV/EBIT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재계산 금지 (AD-1)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92624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248656" y="1600200"/>
            <a:ext cx="2048256" cy="1600200"/>
          </a:xfrm>
          <a:prstGeom prst="roundRect">
            <a:avLst>
              <a:gd name="adj" fmla="val 5714"/>
            </a:avLst>
          </a:prstGeom>
          <a:solidFill>
            <a:srgbClr val="2A9D8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76672" y="175564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76672" y="221284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라우터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has_*_score 구분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96912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552944" y="1600200"/>
            <a:ext cx="2048256" cy="1600200"/>
          </a:xfrm>
          <a:prstGeom prst="roundRect">
            <a:avLst>
              <a:gd name="adj" fmla="val 5714"/>
            </a:avLst>
          </a:prstGeom>
          <a:solidFill>
            <a:srgbClr val="2A9D8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680960" y="175564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SPA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0" y="221284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스크리너·상세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6상태 시각 언어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0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857232" y="1600200"/>
            <a:ext cx="2048256" cy="1600200"/>
          </a:xfrm>
          <a:prstGeom prst="roundRect">
            <a:avLst>
              <a:gd name="adj" fmla="val 5714"/>
            </a:avLst>
          </a:prstGeom>
          <a:solidFill>
            <a:srgbClr val="E9A13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985248" y="175564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→ Tableau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985248" y="221284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원자적 스냅숏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manifest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611880"/>
            <a:ext cx="10972800" cy="658368"/>
          </a:xfrm>
          <a:prstGeom prst="roundRect">
            <a:avLst>
              <a:gd name="adj" fmla="val 13889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3703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관통 원칙: </a:t>
            </a:r>
            <a:pPr indent="0" marL="0">
              <a:buNone/>
            </a:pPr>
            <a:r>
              <a:rPr lang="en-US" sz="150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"모름(null)"이 다섯 레이어를 그대로 통과한다 — 어느 층도 null을 0·빈칸·"아니오"로 세탁하지 않는다.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에픽 · 22 스토리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BMAD 스토리 단위 개발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3484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465 + 프론트 126 테스트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3484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없이 전부 통과 (CI 가능)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2종 · 유일 writer 규칙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0" y="5074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gap_engine / mna_engine (AD-3·4·10)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① 애널리스트 스크리너</a:t>
            </a:r>
            <a:endParaRPr lang="en-US" sz="3400" dirty="0"/>
          </a:p>
        </p:txBody>
      </p:sp>
      <p:pic>
        <p:nvPicPr>
          <p:cNvPr id="3" name="Image 0" descr="ui_scree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25880"/>
            <a:ext cx="6858000" cy="48737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618488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008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16002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→ 즉시 랭킹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720" y="20116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시장·업종·시총 + ROE/PBR/EV/EBIT/부채비율 슬라이더 + 사실 기반 필터 3종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90088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8872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 모드 전환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3383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Value-up ↔ M&amp;A 탭 전환 시 정렬 기준 자동 스왑 — 라이브 검증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361688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4008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88720" y="43434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상태를 숨기지 않는 리스트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88720" y="47548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판단불가·미집계·산식 미적용 칩이 점수와 같은 급으로 노출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892040" y="6263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 시안 (UX-DR1·2) — React 19 + TanStack Table로 구현, 네트워크 로그로 배선 실증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② 종목 상세 — 근거까지 한 화면</a:t>
            </a:r>
            <a:endParaRPr lang="en-US" sz="3400" dirty="0"/>
          </a:p>
        </p:txBody>
      </p:sp>
      <p:pic>
        <p:nvPicPr>
          <p:cNvPr id="3" name="Image 0" descr="ui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6858000" cy="48737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8120" y="1618488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8181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6676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vs 실제 갭 카드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66760" y="2011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→ 실제 → 갭, 달성률·진척률·자사주 3단계 + 근거 공시 접수번호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18120" y="2990088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81812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6676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M&amp;A 4요소 분해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66760" y="3383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저평가 0.35 · 인수여력 0.25 · 지배구조 0.25 · 매크로 0.15 + 모집단 근거 칩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818120" y="4361688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81812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66760" y="4343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태깅의 절제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66760" y="4754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지표가 null이면 태그를 만들지 않는다 — 0으로 채워 태깅하지 않음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6263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 시안 (UX-DR3·4) — as_of 체이닝으로 4개 API 병렬 호출의 기준일 혼합 차단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 엔진 2종 — 같은 데이터, 상반된 관점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40680" cy="4572000"/>
          </a:xfrm>
          <a:prstGeom prst="roundRect">
            <a:avLst>
              <a:gd name="adj" fmla="val 2400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Value-up 실행점수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공시한 계획을 지키고 있는가 (0~100)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달성률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실제 지표 / 목표 지표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진척률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목표기간 경과 비율 (as_of 기준)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자사주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취득만 했나, 소각까지 했나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977640"/>
            <a:ext cx="4892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C745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4133088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74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◐ 공시 불투명도 (워싱 판정의 대체 축)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4축 중 미공시 축 수 → 동종업계 백분위 (220종목)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고의를 판정하지 않고 공시 격차를 순위화 — 워싱 플래그는 실측 True=0으로 은퇴 (S7)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440680" cy="4572000"/>
          </a:xfrm>
          <a:prstGeom prst="roundRect">
            <a:avLst>
              <a:gd name="adj" fmla="val 2400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M&amp;A 타겟 점수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인수 매력도 — 4요소 가중합 (0~100)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저평가 (EV/EBIT·PBR)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92640" y="2734056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DDE7E5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92640" y="2734056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155680" y="26791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0.35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29400" y="3264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인수여력 (순현금·부채)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92640" y="3300984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DDE7E5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692640" y="3300984"/>
            <a:ext cx="1012371" cy="219456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15568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38313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지배구조 (최대주주 지분)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92640" y="3867912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DDE7E5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92640" y="3867912"/>
            <a:ext cx="1012371" cy="219456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155680" y="38130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29400" y="43982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매크로 (금리·환율 국면)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92640" y="4434840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DDE7E5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692640" y="4434840"/>
            <a:ext cx="607423" cy="219456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1155680" y="43799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29400" y="51206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내 백분위(KSIC) 기본, 소표본이면 전체시장 폴백 — </a:t>
            </a:r>
            <a:pPr indent="0" marL="0">
              <a:buNone/>
            </a:pPr>
            <a:r>
              <a:rPr lang="en-US" sz="115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모집단인지 population_basis로 명시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정직한 null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"판단할 수 없는 것을 판단한 척하지 않는다"</a:t>
            </a:r>
            <a:endParaRPr lang="en-US" sz="2000" dirty="0"/>
          </a:p>
        </p:txBody>
      </p:sp>
      <p:pic>
        <p:nvPicPr>
          <p:cNvPr id="4" name="Image 0" descr="ui_leg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234440"/>
            <a:ext cx="3602736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148840"/>
            <a:ext cx="7223760" cy="1143000"/>
          </a:xfrm>
          <a:prstGeom prst="roundRect">
            <a:avLst>
              <a:gd name="adj" fmla="val 8000"/>
            </a:avLst>
          </a:prstGeom>
          <a:solidFill>
            <a:srgbClr val="1B4147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68680" y="227685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6가지 상태를 구분해 그린다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8680" y="266090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불투명 · 근거 없음 · 판단 불가 · 산출 불가 · 미집계 · 산식 미적용 — 각각 다른 시각 언어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474720"/>
            <a:ext cx="7223760" cy="1143000"/>
          </a:xfrm>
          <a:prstGeom prst="roundRect">
            <a:avLst>
              <a:gd name="adj" fmla="val 8000"/>
            </a:avLst>
          </a:prstGeom>
          <a:solidFill>
            <a:srgbClr val="1B414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8680" y="360273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자기검증 — 간판 지표를 폐기했다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398678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워싱 플래그 True 0건. 표본 33→359 확장 후에도 0 — 임계치가 아니라 설계 결함. 대체 축 구축 후 은퇴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800600"/>
            <a:ext cx="7223760" cy="1143000"/>
          </a:xfrm>
          <a:prstGeom prst="roundRect">
            <a:avLst>
              <a:gd name="adj" fmla="val 8000"/>
            </a:avLst>
          </a:prstGeom>
          <a:solidFill>
            <a:srgbClr val="1B414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68680" y="492861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요구사항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68680" y="531266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신용평가·심사에서 "불확실을 확실로 세탁하지 않는 것"은 스타일이 아니라 요구사항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83880" y="640080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 범례 시트 — 6상태 시각 언어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방식 — 두 모델의 교차 리뷰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15361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33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22494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스토리 교차 리뷰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6151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Claude × 리뷰 GPT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3716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63440" y="15361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63440" y="22494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통과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6151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465 + 프론트 126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13716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58200" y="15361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라운드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458200" y="22494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 → 재작업 → 수렴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58200" y="26151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지적이 구조적 → 세부로 수렴 (3.3)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리뷰가 잡아낸 실질 결함 (예시)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오류의 400 세탁 (2.6)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pydantic ValidationError ⊂ ValueError 함정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API 병렬 호출의 기준일 혼합 (3.4)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스냅숏 부분 실패 시 세대 혼합 (3.5)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508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맹종하지 않는 리뷰 소비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393192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전문 verbatim 전달 (축약 금지 규칙)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patch / defer / dismiss로 triage — 전량 스토리 문서에 기록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 대신 더 싼 해법 관철 (as_of 체이닝·교집합 기준일)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리뷰어 오탐은 사실관계로 반박·기각 — 기록 유지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후 CX 분석 — 세 방법론이 같은 곳을 가리켰다</a:t>
            </a:r>
            <a:endParaRPr lang="en-US" sz="3200" dirty="0"/>
          </a:p>
        </p:txBody>
      </p:sp>
      <p:pic>
        <p:nvPicPr>
          <p:cNvPr id="3" name="Image 0" descr="cx-HEART-스파이더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3383280" cy="3383280"/>
          </a:xfrm>
          <a:prstGeom prst="rect">
            <a:avLst/>
          </a:prstGeom>
        </p:spPr>
      </p:pic>
      <p:pic>
        <p:nvPicPr>
          <p:cNvPr id="4" name="Image 1" descr="cx-IPA-사분면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17320"/>
            <a:ext cx="4032504" cy="33832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778240" y="1417320"/>
            <a:ext cx="2880360" cy="3383280"/>
          </a:xfrm>
          <a:prstGeom prst="roundRect">
            <a:avLst>
              <a:gd name="adj" fmla="val 3810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6" name="Text 2"/>
          <p:cNvSpPr/>
          <p:nvPr/>
        </p:nvSpPr>
        <p:spPr>
          <a:xfrm>
            <a:off x="900684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수렴한 결론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006840" y="205740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여정 3단계 감정 꺾임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HEART Task Success 3.0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IPA 집중개선 구역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execution_score 커버리지 하나를 가리킴 — "한계와 판단" §1과 정확히 일치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77240" y="5074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유지 구역 = 품질 투자 지점 (오탐 방지·정직한 null·배선 실증)  ·  </a:t>
            </a:r>
            <a:pPr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여정 지도 + Google HEART + IPA, 점수는 실측 근거의 전문가 판정 추정(실사용자 리서치 없음 명시)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판단 — 의도적으로 안 한 것들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리스크를 식별하고도 비용 대비 판단으로 미구현을 선택한 항목 — 숨기는 대신 README에 명시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786384"/>
          </a:xfrm>
          <a:prstGeom prst="roundRect">
            <a:avLst>
              <a:gd name="adj" fmla="val 9302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647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execution_score 커버리지 — 마감 후 해소 (174종목)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92040" y="176479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원인은 원천 데이터(자유서식). 처방을 바꿔 해소 — 수동 태깅이 아니라 범위 파싱이 답이었다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10972800" cy="786384"/>
          </a:xfrm>
          <a:prstGeom prst="roundRect">
            <a:avLst>
              <a:gd name="adj" fmla="val 9302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6609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score_run 배치 메타데이터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266090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사용자 로컬 + 완화장치(교집합 as_of·manifest·has_* 플래그) — 기록으로 마감, 운영화 시 처방 명시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83864"/>
            <a:ext cx="10972800" cy="786384"/>
          </a:xfrm>
          <a:prstGeom prst="roundRect">
            <a:avLst>
              <a:gd name="adj" fmla="val 9302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5570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point-in-time 미보장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92040" y="355701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as_of 조회에 전역 최신가 — 백테스트 부적합을 문서로 선언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10972800" cy="786384"/>
          </a:xfrm>
          <a:prstGeom prst="roundRect">
            <a:avLst>
              <a:gd name="adj" fmla="val 9302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4531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look-ahead 부분 차단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445312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해 사업보고서만 배제 — available_at 데이터 없이는 완전 차단 불가, API-CSV 패리티는 유지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276088"/>
            <a:ext cx="10972800" cy="786384"/>
          </a:xfrm>
          <a:prstGeom prst="roundRect">
            <a:avLst>
              <a:gd name="adj" fmla="val 9302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5349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envelope 없음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92040" y="53492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의도적 로컬 전용(아키텍처 결정) — 운영 배포 시 필요 항목을 미리 기록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로드맵 — CX 분석이 정한 우선순위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16459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466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P1-1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공시일(disclosure timestamp) 수집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정합의 마지막 구멍 — 과거 as_of 조회 시 동일연도 후속 분기 혼입 가능. API 문서에 명시 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63440" y="16459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P1-2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103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첨부(PDF/HWP) 수집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대기업이 실계획을 첨부로 제출 — DART OpenAPI로 취득 불가. OCR 층은 구축, 취득이 수동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2F7F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58200" y="16459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58200" y="2103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환원율 정의 재론 (정책 판단)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8200" y="29260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소각하지 않은 자사주를 환원으로 볼 것인가 — 소각 금액 수집 완료, 두 기준을 나란히 서빙 중. 채택은 정책 판단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0F2E33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7548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않을 것: </a:t>
            </a:r>
            <a:pPr indent="0" marL="0">
              <a:buNone/>
            </a:pPr>
            <a:r>
              <a:rPr lang="en-US" sz="13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최적화 — 실측 결과 처방 자체가 틀렸다(원인은 페이지 깊이가 아니라 사전 집계). 실행 안 한 것이 이득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26680" y="47548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판정: </a:t>
            </a:r>
            <a:pPr indent="0" marL="0">
              <a:buNone/>
            </a:pPr>
            <a:r>
              <a:rPr lang="en-US" sz="13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5건 — 커버리지·목표파싱·유니버스·소각시점·야심도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12 → 174종목 · 업종 내 비교 0 → 73%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943600" cy="59436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프로젝트가 증명하는 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null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5448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불확실을 확실로 세탁하지 않는 설계 — DB부터 Tableau까지 관통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자기검증의 습관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교차 리뷰 · 배선 실증 · 착수 전 재측정 — 내 지표까지 의심 대상에 둔다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4069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판단의 기록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구현하지 않은 것도, 폐기한 지표도 근거와 함께 문서화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539496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B414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51560" y="55046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buNone/>
            </a:pPr>
            <a:r>
              <a:rPr lang="en-US" sz="1300" dirty="0">
                <a:solidFill>
                  <a:srgbClr val="A9C9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GitHub(코드·스토리 33건·리뷰 번들·회고)  ·  Tableau .twbx(더블클릭 실행)  ·  Figma(UI·CX 시각화)  ·  CX 분석 문서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— github.com/dariajkim-star/valueup-washing-lab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2026-07-20T01:55:20Z</dcterms:created>
  <dcterms:modified xsi:type="dcterms:W3CDTF">2026-07-20T01:55:20Z</dcterms:modified>
</cp:coreProperties>
</file>